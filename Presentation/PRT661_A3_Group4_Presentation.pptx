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9101"/>
    <p:restoredTop sz="96266"/>
  </p:normalViewPr>
  <p:slideViewPr>
    <p:cSldViewPr snapToGrid="0" snapToObjects="1">
      <p:cViewPr varScale="1">
        <p:scale>
          <a:sx n="126" d="100"/>
          <a:sy n="126" d="100"/>
        </p:scale>
        <p:origin x="9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baseline="0">
                <a:solidFill>
                  <a:srgbClr val="14213D"/>
                </a:solidFill>
                <a:latin typeface="Arial"/>
                <a:ea typeface="+mn-ea"/>
                <a:cs typeface="+mn-cs"/>
              </a:defRPr>
            </a:pPr>
            <a:r>
              <a:rPr lang="en-AU" sz="1400" b="0" i="0" u="none" strike="noStrike">
                <a:solidFill>
                  <a:srgbClr val="14213D"/>
                </a:solidFill>
                <a:latin typeface="Arial"/>
              </a:rPr>
              <a:t>Apr 2024-Aug 2025, Saving against no battery.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Saving vs no battery (%)</c:v>
                </c:pt>
              </c:strCache>
            </c:strRef>
          </c:tx>
          <c:spPr>
            <a:solidFill>
              <a:srgbClr val="9AA3B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987-D24E-B55C-2EAA50E21FA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F987-D24E-B55C-2EAA50E21FA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F987-D24E-B55C-2EAA50E21FAF}"/>
              </c:ext>
            </c:extLst>
          </c:dPt>
          <c:dPt>
            <c:idx val="3"/>
            <c:invertIfNegative val="0"/>
            <c:bubble3D val="0"/>
            <c:spPr>
              <a:solidFill>
                <a:srgbClr val="F4A3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987-D24E-B55C-2EAA50E21FAF}"/>
              </c:ext>
            </c:extLst>
          </c:dPt>
          <c:dPt>
            <c:idx val="4"/>
            <c:invertIfNegative val="0"/>
            <c:bubble3D val="0"/>
            <c:spPr>
              <a:solidFill>
                <a:srgbClr val="2E8B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987-D24E-B55C-2EAA50E21FAF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Battery as actually operated</c:v>
                </c:pt>
                <c:pt idx="1">
                  <c:v>Store surplus solar only</c:v>
                </c:pt>
                <c:pt idx="2">
                  <c:v>Always fill overnight</c:v>
                </c:pt>
                <c:pt idx="3">
                  <c:v>Forecast plan</c:v>
                </c:pt>
                <c:pt idx="4">
                  <c:v>Perfect foresight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9.8000000000000007</c:v>
                </c:pt>
                <c:pt idx="1">
                  <c:v>17.3</c:v>
                </c:pt>
                <c:pt idx="2">
                  <c:v>19.600000000000001</c:v>
                </c:pt>
                <c:pt idx="3">
                  <c:v>22.3</c:v>
                </c:pt>
                <c:pt idx="4">
                  <c:v>25.3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987-D24E-B55C-2EAA50E21FA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baseline="0">
                <a:solidFill>
                  <a:srgbClr val="14213D"/>
                </a:solidFill>
                <a:latin typeface="Arial"/>
                <a:ea typeface="+mn-ea"/>
                <a:cs typeface="+mn-cs"/>
              </a:defRPr>
            </a:pPr>
            <a:r>
              <a:rPr lang="en-AU" sz="1400" b="0" i="0" u="none" strike="noStrike">
                <a:solidFill>
                  <a:srgbClr val="14213D"/>
                </a:solidFill>
                <a:latin typeface="Arial"/>
              </a:rPr>
              <a:t>What's holding the battery plan back?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perfect foresight benefit (%)</c:v>
                </c:pt>
              </c:strCache>
            </c:strRef>
          </c:tx>
          <c:spPr>
            <a:solidFill>
              <a:srgbClr val="F4A30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D5C-E64C-B917-EB4F24082A63}"/>
              </c:ext>
            </c:extLst>
          </c:dPt>
          <c:dPt>
            <c:idx val="1"/>
            <c:invertIfNegative val="0"/>
            <c:bubble3D val="0"/>
            <c:spPr>
              <a:solidFill>
                <a:srgbClr val="9AA3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D5C-E64C-B917-EB4F24082A63}"/>
              </c:ext>
            </c:extLst>
          </c:dPt>
          <c:dPt>
            <c:idx val="2"/>
            <c:invertIfNegative val="0"/>
            <c:bubble3D val="0"/>
            <c:spPr>
              <a:solidFill>
                <a:srgbClr val="2E8B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D5C-E64C-B917-EB4F24082A63}"/>
              </c:ext>
            </c:extLst>
          </c:dPt>
          <c:dPt>
            <c:idx val="3"/>
            <c:invertIfNegative val="0"/>
            <c:bubble3D val="0"/>
            <c:spPr>
              <a:solidFill>
                <a:srgbClr val="5B64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D5C-E64C-B917-EB4F24082A63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Our forecasts (median plan)</c:v>
                </c:pt>
                <c:pt idx="1">
                  <c:v>Perfect solar, our demand</c:v>
                </c:pt>
                <c:pt idx="2">
                  <c:v>Our solar, perfect demand</c:v>
                </c:pt>
                <c:pt idx="3">
                  <c:v>Both perfect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</c:v>
                </c:pt>
                <c:pt idx="1">
                  <c:v>52</c:v>
                </c:pt>
                <c:pt idx="2">
                  <c:v>85</c:v>
                </c:pt>
                <c:pt idx="3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D5C-E64C-B917-EB4F24082A6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9442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ttam1618/PRT661-solar-forecasting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uttamshrestha1618.atlassian.net/jira/software/projects/SCRUM/boards/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822960"/>
            <a:ext cx="685800" cy="685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1691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 Solar to Plan the Site Battery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606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DKASC Alice Springs  ·  Assessment 3 Technical Demonstration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731520" y="38404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1F2E52"/>
          </a:solidFill>
          <a:ln w="12700">
            <a:solidFill>
              <a:srgbClr val="2C3E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914400" y="393192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Abhisek Tamang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S396739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456432" y="38404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1F2E52"/>
          </a:solidFill>
          <a:ln w="12700">
            <a:solidFill>
              <a:srgbClr val="2C3E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3639312" y="393192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Sarin Uprety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S394012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Feature Engineer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181344" y="38404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1F2E52"/>
          </a:solidFill>
          <a:ln w="12700">
            <a:solidFill>
              <a:srgbClr val="2C3E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6364224" y="393192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Uttam Shrestha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S396560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Lead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906256" y="38404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1F2E52"/>
          </a:solidFill>
          <a:ln w="12700">
            <a:solidFill>
              <a:srgbClr val="2C3E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9089136" y="393192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Yogesh Basnet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S394043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and Visualisation Lead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PRT661 Data Science Practice  ·  Charles Darwin University  ·  Semester 2, 2026  ·  Group 4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75488" cy="47548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47472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Overview: the problem we are solving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921240" y="484632"/>
            <a:ext cx="1783080" cy="402336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 w="12700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921240" y="48463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Abhisek</a:t>
            </a: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PRT661 · Group 4 · Assessment 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463040"/>
            <a:ext cx="566928" cy="566928"/>
          </a:xfrm>
          <a:prstGeom prst="ellipse">
            <a:avLst/>
          </a:prstGeom>
          <a:solidFill>
            <a:srgbClr val="FDEBC0"/>
          </a:solidFill>
          <a:ln w="12700">
            <a:solidFill>
              <a:srgbClr val="FDE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804" y="1587764"/>
            <a:ext cx="317480" cy="3174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17320" y="14173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site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182880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DKASC Alice Springs: a solar array and, since 2024, a site battery (354 kWh, measured from its own data).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40080" y="3017520"/>
            <a:ext cx="566928" cy="566928"/>
          </a:xfrm>
          <a:prstGeom prst="ellipse">
            <a:avLst/>
          </a:prstGeom>
          <a:solidFill>
            <a:srgbClr val="FDEBC0"/>
          </a:solidFill>
          <a:ln w="12700">
            <a:solidFill>
              <a:srgbClr val="FDE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804" y="3142244"/>
            <a:ext cx="317480" cy="3174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417320" y="29718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1417320" y="338328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00" dirty="0"/>
              <a:t>Master Meter 1 data every 5 minutes from 2008 to 2025 (1.77 million rows) and site telemetry data for 2024 and 2025 (battery, solar, demand, and grid).</a:t>
            </a:r>
          </a:p>
        </p:txBody>
      </p:sp>
      <p:sp>
        <p:nvSpPr>
          <p:cNvPr id="16" name="Shape 12"/>
          <p:cNvSpPr/>
          <p:nvPr/>
        </p:nvSpPr>
        <p:spPr>
          <a:xfrm>
            <a:off x="640080" y="4572000"/>
            <a:ext cx="566928" cy="566928"/>
          </a:xfrm>
          <a:prstGeom prst="ellipse">
            <a:avLst/>
          </a:prstGeom>
          <a:solidFill>
            <a:srgbClr val="FDEBC0"/>
          </a:solidFill>
          <a:ln w="12700">
            <a:solidFill>
              <a:srgbClr val="FDE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804" y="4696724"/>
            <a:ext cx="317480" cy="3174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17320" y="45262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1417320" y="493776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night: how much cheap off peak grid energy should the battery store for tomorrow's expensive evening peak?</a:t>
            </a:r>
            <a:endParaRPr lang="en-US" sz="1500" dirty="0"/>
          </a:p>
        </p:txBody>
      </p:sp>
      <p:pic>
        <p:nvPicPr>
          <p:cNvPr id="20" name="Image 3" descr="img/fig1_generation_histo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1806266"/>
            <a:ext cx="5486400" cy="351978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217920" y="5897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history at the site (A2, Figure 1)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75488" cy="47548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47472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Objectives: from A2 to A3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921240" y="484632"/>
            <a:ext cx="1783080" cy="402336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 w="12700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921240" y="48463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Abhisek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PRT661 · Group 4 · Assessment 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4937760" cy="4754880"/>
          </a:xfrm>
          <a:prstGeom prst="roundRect">
            <a:avLst>
              <a:gd name="adj" fmla="val 2308"/>
            </a:avLst>
          </a:prstGeom>
          <a:solidFill>
            <a:srgbClr val="F3F5F9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914400" y="1554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Delivered in A2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148840"/>
            <a:ext cx="443484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from 19 raw extracts to a 30 feature hourly store</a:t>
            </a:r>
            <a:endParaRPr lang="en-US" sz="15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of 1 h and 24 h ahead using gradient boosting outperform three baselines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prediction intervals, but at 24 h they only covered 70.6% of hours in the latest test period.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battery decision was not yet modelled.</a:t>
            </a:r>
            <a:endParaRPr lang="en-US" sz="15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3429000"/>
            <a:ext cx="548640" cy="54864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583680" y="1371600"/>
            <a:ext cx="4983480" cy="4754880"/>
          </a:xfrm>
          <a:prstGeom prst="roundRect">
            <a:avLst>
              <a:gd name="adj" fmla="val 2308"/>
            </a:avLst>
          </a:prstGeom>
          <a:solidFill>
            <a:srgbClr val="FFF7E0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858000" y="15544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A3 objectives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6858000" y="2194560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685800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406640" y="212140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uncertainty credible: an 80% range that actually encompasses 80% of the values.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858000" y="3127248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6858000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7406640" y="3054096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00" dirty="0"/>
              <a:t>Model real site and battery from telemetry</a:t>
            </a:r>
          </a:p>
        </p:txBody>
      </p:sp>
      <p:sp>
        <p:nvSpPr>
          <p:cNvPr id="20" name="Shape 17"/>
          <p:cNvSpPr/>
          <p:nvPr/>
        </p:nvSpPr>
        <p:spPr>
          <a:xfrm>
            <a:off x="6858000" y="4059936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685800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406640" y="3986784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00" dirty="0"/>
              <a:t>Make the forecast a nightly battery decision and quantify the value.</a:t>
            </a:r>
          </a:p>
        </p:txBody>
      </p:sp>
      <p:sp>
        <p:nvSpPr>
          <p:cNvPr id="23" name="Shape 20"/>
          <p:cNvSpPr/>
          <p:nvPr/>
        </p:nvSpPr>
        <p:spPr>
          <a:xfrm>
            <a:off x="6858000" y="4992624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6858000" y="4992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7406640" y="491947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it through Jira tasks, branches and reviewed pull requests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75488" cy="47548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47472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Updated system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921240" y="484632"/>
            <a:ext cx="1783080" cy="402336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 w="12700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921240" y="48463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Abhisek</a:t>
            </a: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PRT661 · Group 4 · Assessment 3</a:t>
            </a:r>
            <a:endParaRPr lang="en-US" sz="1000" dirty="0"/>
          </a:p>
        </p:txBody>
      </p:sp>
      <p:pic>
        <p:nvPicPr>
          <p:cNvPr id="8" name="Image 0" descr="img/08-system-architecture-a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553" y="1188720"/>
            <a:ext cx="4416333" cy="5166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766560" y="1371600"/>
            <a:ext cx="4937760" cy="1024128"/>
          </a:xfrm>
          <a:prstGeom prst="roundRect">
            <a:avLst>
              <a:gd name="adj" fmla="val 10714"/>
            </a:avLst>
          </a:prstGeom>
          <a:solidFill>
            <a:srgbClr val="F3F5F9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6949440" y="1444752"/>
            <a:ext cx="46177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data sources</a:t>
            </a:r>
          </a:p>
          <a:p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meter 1 for forecast, site telemetry 2024 and 2025 for the battery.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766560" y="2560320"/>
            <a:ext cx="4937760" cy="1024128"/>
          </a:xfrm>
          <a:prstGeom prst="roundRect">
            <a:avLst>
              <a:gd name="adj" fmla="val 10714"/>
            </a:avLst>
          </a:prstGeom>
          <a:solidFill>
            <a:srgbClr val="F3F5F9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6949440" y="2633472"/>
            <a:ext cx="46177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1 to 5 from A1 and A2</a:t>
            </a:r>
            <a:endParaRPr lang="en-US" sz="1600" dirty="0"/>
          </a:p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acquisition, storage, processing, features, models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766560" y="3749040"/>
            <a:ext cx="4937760" cy="1024128"/>
          </a:xfrm>
          <a:prstGeom prst="roundRect">
            <a:avLst>
              <a:gd name="adj" fmla="val 10714"/>
            </a:avLst>
          </a:prstGeom>
          <a:solidFill>
            <a:srgbClr val="F3F5F9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6949440" y="3822192"/>
            <a:ext cx="46177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A3 layer (blue)</a:t>
            </a:r>
            <a:endParaRPr lang="en-US" sz="1600" dirty="0"/>
          </a:p>
          <a:p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 calibration, site and battery model, dispatch simulation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766560" y="4937760"/>
            <a:ext cx="4937760" cy="1024128"/>
          </a:xfrm>
          <a:prstGeom prst="roundRect">
            <a:avLst>
              <a:gd name="adj" fmla="val 10714"/>
            </a:avLst>
          </a:prstGeom>
          <a:solidFill>
            <a:srgbClr val="F3F5F9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6949440" y="5010912"/>
            <a:ext cx="46177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status</a:t>
            </a:r>
          </a:p>
          <a:p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for A4: dashboard, scheduled runs and retraining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75488" cy="47548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47472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A2 recap: the data pipeline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921240" y="484632"/>
            <a:ext cx="1783080" cy="402336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 w="12700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921240" y="48463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Abhisek</a:t>
            </a: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PRT661 · Group 4 · Assessment 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3F5F9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914400" y="1737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4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1,767,903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3957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of 5 minute data in Master Meter 1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89120" y="141732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3F5F9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663440" y="1737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3957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 dirty="0"/>
              <a:t>406 column names reconciled, yearly extracts profiled.</a:t>
            </a:r>
          </a:p>
        </p:txBody>
      </p:sp>
      <p:sp>
        <p:nvSpPr>
          <p:cNvPr id="14" name="Shape 12"/>
          <p:cNvSpPr/>
          <p:nvPr/>
        </p:nvSpPr>
        <p:spPr>
          <a:xfrm>
            <a:off x="8138160" y="141732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3F5F9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412480" y="1737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23957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register wraps repaired and validated against power with 99.7% accuracy.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379476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3F5F9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914400" y="4114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47731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features, leakage safe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89120" y="379476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3F5F9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663440" y="4114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47731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 dirty="0"/>
              <a:t>Quality gates with thresholds</a:t>
            </a:r>
          </a:p>
        </p:txBody>
      </p:sp>
      <p:sp>
        <p:nvSpPr>
          <p:cNvPr id="23" name="Shape 21"/>
          <p:cNvSpPr/>
          <p:nvPr/>
        </p:nvSpPr>
        <p:spPr>
          <a:xfrm>
            <a:off x="8138160" y="379476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3F5F9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8412480" y="4114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Parquet</a:t>
            </a:r>
            <a:endParaRPr lang="en-US" sz="3400" dirty="0"/>
          </a:p>
        </p:txBody>
      </p:sp>
      <p:sp>
        <p:nvSpPr>
          <p:cNvPr id="25" name="Text 23"/>
          <p:cNvSpPr txBox="1"/>
          <p:nvPr/>
        </p:nvSpPr>
        <p:spPr>
          <a:xfrm>
            <a:off x="8412480" y="47731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 dirty="0"/>
              <a:t>columnar store at the 5 minute and hourly level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75488" cy="47548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47472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Workflow: data to decision, and how we work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921240" y="484632"/>
            <a:ext cx="1783080" cy="402336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 w="12700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921240" y="48463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PRT661 · Group 4 · Assessment 3</a:t>
            </a:r>
            <a:endParaRPr lang="en-US" sz="1000" dirty="0"/>
          </a:p>
        </p:txBody>
      </p:sp>
      <p:pic>
        <p:nvPicPr>
          <p:cNvPr id="8" name="Image 0" descr="img/04-workflow-a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166" y="1188720"/>
            <a:ext cx="7088787" cy="51663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641080" y="1463040"/>
            <a:ext cx="310896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notebooks 01 – 06 execute sequentially; only the previous notebook writes to its respective notebook.</a:t>
            </a:r>
          </a:p>
          <a:p>
            <a:pPr marL="342900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 boxes are new to A3: notebook 06 and the saved forecasts from 05</a:t>
            </a:r>
          </a:p>
          <a:p>
            <a:pPr marL="342900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All changes are done using the same 7 steps as for Jira task to merge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SCRUM-44 to 47, branch, pull request #2, merged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75488" cy="47548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47472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progress at A3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921240" y="484632"/>
            <a:ext cx="1783080" cy="402336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 w="12700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921240" y="48463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Sarin</a:t>
            </a: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PRT661 · Group 4 · Assessment 3</a:t>
            </a:r>
            <a:endParaRPr lang="en-US" sz="1000" dirty="0"/>
          </a:p>
        </p:txBody>
      </p:sp>
      <p:pic>
        <p:nvPicPr>
          <p:cNvPr id="8" name="Image 0" descr="img/02c-workflow-progress-a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9587"/>
            <a:ext cx="7589520" cy="437890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503920" y="1371600"/>
            <a:ext cx="3200400" cy="13716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8732520" y="148132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8732520" y="213969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tasks in Jira Sprint 3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503920" y="2971800"/>
            <a:ext cx="3200400" cy="13716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8732520" y="308152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 #2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8732520" y="373989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analysis merged into main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503920" y="4572000"/>
            <a:ext cx="3200400" cy="13716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8732520" y="468172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of 8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8732520" y="534009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epics complete or on track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75488" cy="47548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47472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A2 recap: models and the open problem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921240" y="484632"/>
            <a:ext cx="1783080" cy="402336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 w="12700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921240" y="48463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PRT661 · Group 4 · Assessment 3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6675120" cy="23774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h MAE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h R²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h MAE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h R²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3.61 kW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6.96 kW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Seasonal naive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7.74 kW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7.74 kW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13.90 kW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7.74 kW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Climatology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11.07 kW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11.07 kW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6"/>
          <p:cNvSpPr txBox="1"/>
          <p:nvPr/>
        </p:nvSpPr>
        <p:spPr>
          <a:xfrm>
            <a:off x="640080" y="388620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of four walk forward folds, 2019 to 2025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680960" y="1417320"/>
            <a:ext cx="4023360" cy="4480560"/>
          </a:xfrm>
          <a:prstGeom prst="roundRect">
            <a:avLst>
              <a:gd name="adj" fmla="val 2727"/>
            </a:avLst>
          </a:prstGeom>
          <a:solidFill>
            <a:srgbClr val="FDF0F2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7955280" y="1600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Carried into A3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7955280" y="21031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400" b="1" dirty="0">
                <a:solidFill>
                  <a:srgbClr val="B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70.6%</a:t>
            </a:r>
            <a:endParaRPr lang="en-US" sz="44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27614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daylight hours inside the 24 h 80% interval, latest test period 2024 to 2025 (target 80%)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7955280" y="361188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interval was too narrow: in 10 trials the interval was correct only 7 times but in 10 trials it had 80% confidence. A battery planning based on this would be overconfident.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75488" cy="47548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47472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A3 Part A: calibrating the forecast intervals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921240" y="484632"/>
            <a:ext cx="1783080" cy="402336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 w="12700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921240" y="48463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PRT661 · Group 4 · Assessment 3</a:t>
            </a:r>
            <a:endParaRPr lang="en-US" sz="1000" dirty="0"/>
          </a:p>
        </p:txBody>
      </p:sp>
      <p:pic>
        <p:nvPicPr>
          <p:cNvPr id="8" name="Image 0" descr="img/fig11_interval_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593"/>
            <a:ext cx="7498080" cy="402369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58978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daylight coverage, raw (grey) vs calibrated (blue)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14476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i="1" dirty="0"/>
              <a:t>Method: Rolling Adaptation for Conformalised Quantile Regression</a:t>
            </a:r>
          </a:p>
        </p:txBody>
      </p:sp>
      <p:sp>
        <p:nvSpPr>
          <p:cNvPr id="11" name="Shape 8"/>
          <p:cNvSpPr/>
          <p:nvPr/>
        </p:nvSpPr>
        <p:spPr>
          <a:xfrm>
            <a:off x="8321040" y="132588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3F5F9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8549640" y="1463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1F5F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80.1% · 80.0%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8549640" y="21214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 dirty="0"/>
              <a:t>daylight coverage 1h and 24h for all four folds, target 80%</a:t>
            </a:r>
          </a:p>
        </p:txBody>
      </p:sp>
      <p:sp>
        <p:nvSpPr>
          <p:cNvPr id="14" name="Text 11"/>
          <p:cNvSpPr txBox="1"/>
          <p:nvPr/>
        </p:nvSpPr>
        <p:spPr>
          <a:xfrm>
            <a:off x="8366760" y="3520440"/>
            <a:ext cx="333756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3929 forecasts where the low edge was above the high edge</a:t>
            </a:r>
          </a:p>
          <a:p>
            <a:pPr marL="342900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conformal calibration: expand or contract over the past 30 days of errors</a:t>
            </a:r>
          </a:p>
          <a:p>
            <a:pPr marL="342900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uses data known at the moment, no look ahead </a:t>
            </a:r>
          </a:p>
          <a:p>
            <a:pPr marL="342900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period, 24 h: 70.6% before, 79.3% after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fold now 79.3% to 81.0%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75488" cy="47548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47472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A3 Part B: the site, its battery, and data drift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921240" y="484632"/>
            <a:ext cx="1783080" cy="402336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 w="12700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921240" y="48463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Uttam</a:t>
            </a: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PRT661 · Group 4 · Assessment 3</a:t>
            </a:r>
            <a:endParaRPr lang="en-US" sz="1000" dirty="0"/>
          </a:p>
        </p:txBody>
      </p:sp>
      <p:pic>
        <p:nvPicPr>
          <p:cNvPr id="8" name="Image 0" descr="img/fig12_site_average_d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33722"/>
            <a:ext cx="6309360" cy="404775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132320" y="1325880"/>
            <a:ext cx="4572000" cy="1051560"/>
          </a:xfrm>
          <a:prstGeom prst="roundRect">
            <a:avLst>
              <a:gd name="adj" fmla="val 10435"/>
            </a:avLst>
          </a:prstGeom>
          <a:solidFill>
            <a:srgbClr val="FFF7E0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7360920" y="137160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= solar + grid + battery</a:t>
            </a:r>
          </a:p>
          <a:p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energy balance test corrected the sign of all meters (96% of hours within 2 kW)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178040" y="26060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354 kWh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7178040" y="326440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capacity via telemetry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26060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115 kW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8732520" y="326440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and discharge power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10287000" y="26060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82.8%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10287000" y="326440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trip efficiency in real cycles. </a:t>
            </a:r>
            <a:b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132320" y="4069080"/>
            <a:ext cx="4572000" cy="2011680"/>
          </a:xfrm>
          <a:prstGeom prst="roundRect">
            <a:avLst>
              <a:gd name="adj" fmla="val 5455"/>
            </a:avLst>
          </a:prstGeom>
          <a:solidFill>
            <a:srgbClr val="FDF0F2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7360920" y="416052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B3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drift, end of February 2024</a:t>
            </a:r>
            <a:endParaRPr lang="en-US" sz="1600" dirty="0"/>
          </a:p>
          <a:p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was reconfigured: site solar divided by Master Meter 1 dropped from 2.21 to approximately 1.1. Analysis begins from 1 March 2024 and the scale used is K = 1.135 (correlation 0.995 after that).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75488" cy="47548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47472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A3 Part C: the nightly battery decision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921240" y="484632"/>
            <a:ext cx="1783080" cy="402336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 w="12700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921240" y="48463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Uttam</a:t>
            </a: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PRT661 · Group 4 · Assessment 3</a:t>
            </a:r>
            <a:endParaRPr lang="en-US" sz="1000" dirty="0"/>
          </a:p>
        </p:txBody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2686334402"/>
              </p:ext>
            </p:extLst>
          </p:nvPr>
        </p:nvGraphicFramePr>
        <p:xfrm>
          <a:off x="548640" y="1234440"/>
          <a:ext cx="676656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548640" y="562356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time of use tariff: $0.15 off peak, $0.25 shoulder, $0.40 peak, $0.07 feed in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635240" y="1325880"/>
            <a:ext cx="4069080" cy="1325880"/>
          </a:xfrm>
          <a:prstGeom prst="roundRect">
            <a:avLst>
              <a:gd name="adj" fmla="val 8276"/>
            </a:avLst>
          </a:prstGeom>
          <a:solidFill>
            <a:srgbClr val="FFF7E0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7863840" y="141732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22:00 every night</a:t>
            </a:r>
            <a:endParaRPr lang="en-US" sz="1600" dirty="0"/>
          </a:p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space minus tomorrow's forecast solar surplus = grid energy to buy tonight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726680" y="28803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$3,419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7726680" y="353872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beyond the best rule with no forecast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7726680" y="4206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47%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7726680" y="48646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benefit perfect foresight would give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75488" cy="47548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47472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Demonstration of the current system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921240" y="484632"/>
            <a:ext cx="1783080" cy="402336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 w="12700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921240" y="48463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Uttam</a:t>
            </a: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PRT661 · Group 4 · Assessment 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1801368"/>
            <a:ext cx="603504" cy="603504"/>
          </a:xfrm>
          <a:prstGeom prst="ellipse">
            <a:avLst/>
          </a:prstGeom>
          <a:solidFill>
            <a:srgbClr val="FDEBC0"/>
          </a:solidFill>
          <a:ln w="12700">
            <a:solidFill>
              <a:srgbClr val="FDE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451" y="1934139"/>
            <a:ext cx="337962" cy="33796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691640" y="150876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· notebook 06</a:t>
            </a:r>
            <a:endParaRPr lang="en-US" sz="1700" dirty="0"/>
          </a:p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table, example week (Figure 14), final KPI table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40080" y="301752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68680" y="3401568"/>
            <a:ext cx="603504" cy="603504"/>
          </a:xfrm>
          <a:prstGeom prst="ellipse">
            <a:avLst/>
          </a:prstGeom>
          <a:solidFill>
            <a:srgbClr val="FDEBC0"/>
          </a:solidFill>
          <a:ln w="12700">
            <a:solidFill>
              <a:srgbClr val="FDE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451" y="3534339"/>
            <a:ext cx="337962" cy="33796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691640" y="310896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· pull request #2</a:t>
            </a:r>
            <a:endParaRPr lang="en-US" sz="1700" dirty="0"/>
          </a:p>
          <a:p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with SCRUM keys, notebooks, figures, diagrams in the repo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640080" y="461772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68680" y="5001768"/>
            <a:ext cx="603504" cy="603504"/>
          </a:xfrm>
          <a:prstGeom prst="ellipse">
            <a:avLst/>
          </a:prstGeom>
          <a:solidFill>
            <a:srgbClr val="FDEBC0"/>
          </a:solidFill>
          <a:ln w="12700">
            <a:solidFill>
              <a:srgbClr val="FDE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451" y="5134539"/>
            <a:ext cx="337962" cy="33796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691640" y="470916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· Sprint 3</a:t>
            </a:r>
            <a:endParaRPr lang="en-US" sz="1700" dirty="0"/>
          </a:p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tasks with owners and status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</p:txBody>
      </p:sp>
      <p:pic>
        <p:nvPicPr>
          <p:cNvPr id="20" name="Image 3" descr="img/fig14_example_wee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1668970"/>
            <a:ext cx="5212080" cy="402297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75488" cy="47548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47472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challenges and how we solved them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921240" y="484632"/>
            <a:ext cx="1783080" cy="402336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 w="12700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921240" y="48463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Yogesh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PRT661 · Group 4 · Assessment 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5303520" cy="2240280"/>
          </a:xfrm>
          <a:prstGeom prst="roundRect">
            <a:avLst>
              <a:gd name="adj" fmla="val 4898"/>
            </a:avLst>
          </a:prstGeom>
          <a:solidFill>
            <a:srgbClr val="F3F5F9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1600200"/>
            <a:ext cx="502920" cy="502920"/>
          </a:xfrm>
          <a:prstGeom prst="ellipse">
            <a:avLst/>
          </a:prstGeom>
          <a:solidFill>
            <a:srgbClr val="FDEBC0"/>
          </a:solidFill>
          <a:ln w="12700">
            <a:solidFill>
              <a:srgbClr val="FDE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322" y="1710842"/>
            <a:ext cx="281635" cy="28163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508760" y="16002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Crossed interval edges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240280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B3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Went low edge on high edge in 3,929 forecasts, primarily at night.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Re-order the two sides, the median remains the same.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217920" y="1371600"/>
            <a:ext cx="5303520" cy="2240280"/>
          </a:xfrm>
          <a:prstGeom prst="roundRect">
            <a:avLst>
              <a:gd name="adj" fmla="val 4898"/>
            </a:avLst>
          </a:prstGeom>
          <a:solidFill>
            <a:srgbClr val="F3F5F9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446520" y="1600200"/>
            <a:ext cx="502920" cy="502920"/>
          </a:xfrm>
          <a:prstGeom prst="ellipse">
            <a:avLst/>
          </a:prstGeom>
          <a:solidFill>
            <a:srgbClr val="FDEBC0"/>
          </a:solidFill>
          <a:ln w="12700">
            <a:solidFill>
              <a:srgbClr val="FDE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162" y="1710842"/>
            <a:ext cx="281635" cy="28163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086600" y="16002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Overconfident intervals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6492240" y="2240280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B3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most recent time period, 24 h range covered 70.6% rather than 80%.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conformal calibration (there: 79.3%, overall: 80.0%)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40080" y="3840480"/>
            <a:ext cx="5303520" cy="2240280"/>
          </a:xfrm>
          <a:prstGeom prst="roundRect">
            <a:avLst>
              <a:gd name="adj" fmla="val 4898"/>
            </a:avLst>
          </a:prstGeom>
          <a:solidFill>
            <a:srgbClr val="F3F5F9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868680" y="4069080"/>
            <a:ext cx="502920" cy="502920"/>
          </a:xfrm>
          <a:prstGeom prst="ellipse">
            <a:avLst/>
          </a:prstGeom>
          <a:solidFill>
            <a:srgbClr val="FDEBC0"/>
          </a:solidFill>
          <a:ln w="12700">
            <a:solidFill>
              <a:srgbClr val="FDE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322" y="4179722"/>
            <a:ext cx="281635" cy="28163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508760" y="40690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drift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914400" y="4709160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B3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ratio reduced by half from end of February 2024 due to site reconfiguration.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in March 2024, scale fitted on March only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6217920" y="3840480"/>
            <a:ext cx="5303520" cy="2240280"/>
          </a:xfrm>
          <a:prstGeom prst="roundRect">
            <a:avLst>
              <a:gd name="adj" fmla="val 4898"/>
            </a:avLst>
          </a:prstGeom>
          <a:solidFill>
            <a:srgbClr val="F3F5F9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446520" y="4069080"/>
            <a:ext cx="502920" cy="502920"/>
          </a:xfrm>
          <a:prstGeom prst="ellipse">
            <a:avLst/>
          </a:prstGeom>
          <a:solidFill>
            <a:srgbClr val="FDEBC0"/>
          </a:solidFill>
          <a:ln w="12700">
            <a:solidFill>
              <a:srgbClr val="FDE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162" y="4179722"/>
            <a:ext cx="281635" cy="281635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086600" y="40690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Unknown signs, logger outages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6492240" y="4709160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B3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Meters are not specifying direction of positive, SOC read 0 in 7% of hours.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balance test corrected for sign; excluded outage hours.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75488" cy="47548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47472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limiting factor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921240" y="484632"/>
            <a:ext cx="1783080" cy="402336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 w="12700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921240" y="48463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Yogesh</a:t>
            </a: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PRT661 · Group 4 · Assessment 3</a:t>
            </a:r>
            <a:endParaRPr lang="en-US" sz="1000" dirty="0"/>
          </a:p>
        </p:txBody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270110578"/>
              </p:ext>
            </p:extLst>
          </p:nvPr>
        </p:nvGraphicFramePr>
        <p:xfrm>
          <a:off x="548640" y="1234440"/>
          <a:ext cx="65836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548640" y="57607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Swaps by one piece at a time, based on perfect information, using the median plan (41%). The caution selected on 2024 is 47% identical to slide 11. </a:t>
            </a:r>
            <a:b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498080" y="1371600"/>
            <a:ext cx="4206240" cy="1280160"/>
          </a:xfrm>
          <a:prstGeom prst="roundRect">
            <a:avLst>
              <a:gd name="adj" fmla="val 8571"/>
            </a:avLst>
          </a:prstGeom>
          <a:solidFill>
            <a:srgbClr val="F3F5F9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7726680" y="146304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weak link is "demand"</a:t>
            </a:r>
            <a:endParaRPr lang="en-US" sz="1600" dirty="0"/>
          </a:p>
          <a:p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demand increases plan to 85%, perfect solar to 52%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498080" y="2880360"/>
            <a:ext cx="4206240" cy="1280160"/>
          </a:xfrm>
          <a:prstGeom prst="roundRect">
            <a:avLst>
              <a:gd name="adj" fmla="val 8571"/>
            </a:avLst>
          </a:prstGeom>
          <a:solidFill>
            <a:srgbClr val="F3F5F9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7726680" y="297180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 barely matters</a:t>
            </a:r>
            <a:endParaRPr lang="en-US" sz="1600" dirty="0"/>
          </a:p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on 2024, tested on 2025: 48% to 50% for caution 0 to 1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498080" y="4389120"/>
            <a:ext cx="4206240" cy="1280160"/>
          </a:xfrm>
          <a:prstGeom prst="roundRect">
            <a:avLst>
              <a:gd name="adj" fmla="val 8571"/>
            </a:avLst>
          </a:prstGeom>
          <a:solidFill>
            <a:srgbClr val="F3F5F9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7726680" y="448056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larger the battery, the greater the value</a:t>
            </a:r>
          </a:p>
          <a:p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gain over rules: 2.2 at half size, 3.9 at double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75488" cy="47548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47472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 before A4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921240" y="484632"/>
            <a:ext cx="1783080" cy="402336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 w="12700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921240" y="48463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Yogesh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PRT661 · Group 4 · Assessment 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25880" y="1645920"/>
            <a:ext cx="640080" cy="64008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32588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011680" y="1965960"/>
            <a:ext cx="1554480" cy="0"/>
          </a:xfrm>
          <a:prstGeom prst="line">
            <a:avLst/>
          </a:prstGeom>
          <a:noFill/>
          <a:ln w="25400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" y="2651760"/>
            <a:ext cx="2011680" cy="2103120"/>
          </a:xfrm>
          <a:prstGeom prst="roundRect">
            <a:avLst>
              <a:gd name="adj" fmla="val 5455"/>
            </a:avLst>
          </a:prstGeom>
          <a:solidFill>
            <a:srgbClr val="FFF7E0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04672" y="2788920"/>
            <a:ext cx="16916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demand forecast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and weekend patterns, temperature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66160" y="1645920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356616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251960" y="1965960"/>
            <a:ext cx="1554480" cy="0"/>
          </a:xfrm>
          <a:prstGeom prst="line">
            <a:avLst/>
          </a:prstGeom>
          <a:noFill/>
          <a:ln w="25400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880360" y="2651760"/>
            <a:ext cx="2011680" cy="2103120"/>
          </a:xfrm>
          <a:prstGeom prst="roundRect">
            <a:avLst>
              <a:gd name="adj" fmla="val 5455"/>
            </a:avLst>
          </a:prstGeom>
          <a:solidFill>
            <a:srgbClr val="F3F5F9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3044952" y="2788920"/>
            <a:ext cx="16916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 instead of a rule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charging and discharging together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06440" y="1645920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80644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492240" y="1965960"/>
            <a:ext cx="1554480" cy="0"/>
          </a:xfrm>
          <a:prstGeom prst="line">
            <a:avLst/>
          </a:prstGeom>
          <a:noFill/>
          <a:ln w="25400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120640" y="2651760"/>
            <a:ext cx="2011680" cy="2103120"/>
          </a:xfrm>
          <a:prstGeom prst="roundRect">
            <a:avLst>
              <a:gd name="adj" fmla="val 5455"/>
            </a:avLst>
          </a:prstGeom>
          <a:solidFill>
            <a:srgbClr val="F3F5F9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5285232" y="2788920"/>
            <a:ext cx="16916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more solar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113.6 MWh was cheaply exported rather than stored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046720" y="1645920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804672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8732520" y="1965960"/>
            <a:ext cx="1554480" cy="0"/>
          </a:xfrm>
          <a:prstGeom prst="line">
            <a:avLst/>
          </a:prstGeom>
          <a:noFill/>
          <a:ln w="25400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360920" y="2651760"/>
            <a:ext cx="2011680" cy="2103120"/>
          </a:xfrm>
          <a:prstGeom prst="roundRect">
            <a:avLst>
              <a:gd name="adj" fmla="val 5455"/>
            </a:avLst>
          </a:prstGeom>
          <a:solidFill>
            <a:srgbClr val="F3F5F9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7525512" y="2788920"/>
            <a:ext cx="16916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monitoring and retraining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detects changes, such as February 2024.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287000" y="1645920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1028700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9601200" y="2651760"/>
            <a:ext cx="2011680" cy="2103120"/>
          </a:xfrm>
          <a:prstGeom prst="roundRect">
            <a:avLst>
              <a:gd name="adj" fmla="val 5455"/>
            </a:avLst>
          </a:prstGeom>
          <a:solidFill>
            <a:srgbClr val="F3F5F9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9765792" y="2788920"/>
            <a:ext cx="16916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and dashboard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12: A4 professional report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783080"/>
            <a:ext cx="3429000" cy="2011680"/>
          </a:xfrm>
          <a:prstGeom prst="roundRect">
            <a:avLst>
              <a:gd name="adj" fmla="val 4545"/>
            </a:avLst>
          </a:prstGeom>
          <a:solidFill>
            <a:srgbClr val="1F2E52"/>
          </a:solidFill>
          <a:ln w="12700">
            <a:solidFill>
              <a:srgbClr val="2C3E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05840" y="19659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8346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intervals that mean what they say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34840" y="1783080"/>
            <a:ext cx="3429000" cy="2011680"/>
          </a:xfrm>
          <a:prstGeom prst="roundRect">
            <a:avLst>
              <a:gd name="adj" fmla="val 4545"/>
            </a:avLst>
          </a:prstGeom>
          <a:solidFill>
            <a:srgbClr val="1F2E52"/>
          </a:solidFill>
          <a:ln w="12700">
            <a:solidFill>
              <a:srgbClr val="2C3E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709160" y="19659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354 kWh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28346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battery is modelled using its own data.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38160" y="1783080"/>
            <a:ext cx="3429000" cy="2011680"/>
          </a:xfrm>
          <a:prstGeom prst="roundRect">
            <a:avLst>
              <a:gd name="adj" fmla="val 4545"/>
            </a:avLst>
          </a:prstGeom>
          <a:solidFill>
            <a:srgbClr val="1F2E52"/>
          </a:solidFill>
          <a:ln w="12700">
            <a:solidFill>
              <a:srgbClr val="2C3E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412480" y="19659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22.3%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28346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with a forecast planned battery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251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 </a:t>
            </a: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github.com/Uttam1618/PRT661-solar-forecasting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 </a:t>
            </a: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uttamshrestha1618.atlassian.net, project SCRUM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440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1471</Words>
  <Application>Microsoft Macintosh PowerPoint</Application>
  <PresentationFormat>Widescreen</PresentationFormat>
  <Paragraphs>246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PRT661 Assessment 3, Group 4</dc:title>
  <dc:subject>PptxGenJS Presentation</dc:subject>
  <dc:creator>Group 4</dc:creator>
  <cp:lastModifiedBy>Uttam SHRESTHA</cp:lastModifiedBy>
  <cp:revision>3</cp:revision>
  <dcterms:created xsi:type="dcterms:W3CDTF">2026-10-01T00:58:33Z</dcterms:created>
  <dcterms:modified xsi:type="dcterms:W3CDTF">2026-10-02T12:11:20Z</dcterms:modified>
</cp:coreProperties>
</file>